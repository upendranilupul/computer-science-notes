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6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0BDA-4E1D-4D88-8C6D-1EF49493C922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B1316-B720-44A5-A2AE-DC26AEA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876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0BDA-4E1D-4D88-8C6D-1EF49493C922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B1316-B720-44A5-A2AE-DC26AEA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27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0BDA-4E1D-4D88-8C6D-1EF49493C922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B1316-B720-44A5-A2AE-DC26AEA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919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0BDA-4E1D-4D88-8C6D-1EF49493C922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B1316-B720-44A5-A2AE-DC26AEA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87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0BDA-4E1D-4D88-8C6D-1EF49493C922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B1316-B720-44A5-A2AE-DC26AEA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545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0BDA-4E1D-4D88-8C6D-1EF49493C922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B1316-B720-44A5-A2AE-DC26AEA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805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0BDA-4E1D-4D88-8C6D-1EF49493C922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B1316-B720-44A5-A2AE-DC26AEA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04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0BDA-4E1D-4D88-8C6D-1EF49493C922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B1316-B720-44A5-A2AE-DC26AEA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519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0BDA-4E1D-4D88-8C6D-1EF49493C922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B1316-B720-44A5-A2AE-DC26AEA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789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0BDA-4E1D-4D88-8C6D-1EF49493C922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B1316-B720-44A5-A2AE-DC26AEA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142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0BDA-4E1D-4D88-8C6D-1EF49493C922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B1316-B720-44A5-A2AE-DC26AEA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665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B0BDA-4E1D-4D88-8C6D-1EF49493C922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EB1316-B720-44A5-A2AE-DC26AEA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639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www.csc.jfn.ac.lk/courses-direct-intake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5251" y="1658983"/>
            <a:ext cx="8573589" cy="1650274"/>
          </a:xfrm>
        </p:spPr>
        <p:txBody>
          <a:bodyPr>
            <a:noAutofit/>
          </a:bodyPr>
          <a:lstStyle/>
          <a:p>
            <a:r>
              <a:rPr lang="en-US" sz="7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Systems Concepts and Design</a:t>
            </a:r>
            <a:endParaRPr lang="en-US" sz="7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9589" y="3458347"/>
            <a:ext cx="3992880" cy="565013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CSC201S2/G2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6" name="Picture 8" descr="What is a Database Management System? - Pathfinders I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924" y="3309257"/>
            <a:ext cx="3253830" cy="3253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5074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5823" y="2611937"/>
            <a:ext cx="5863045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1: Introduction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44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72614"/>
            <a:ext cx="7851394" cy="3538368"/>
          </a:xfrm>
        </p:spPr>
        <p:txBody>
          <a:bodyPr lIns="91440">
            <a:noAutofit/>
          </a:bodyPr>
          <a:lstStyle/>
          <a:p>
            <a:pPr indent="-365760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Database-System Applications</a:t>
            </a:r>
          </a:p>
          <a:p>
            <a:pPr indent="-365760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Database Systems</a:t>
            </a:r>
          </a:p>
          <a:p>
            <a:pPr indent="-365760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of Data</a:t>
            </a:r>
          </a:p>
          <a:p>
            <a:pPr indent="-365760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Languages</a:t>
            </a:r>
          </a:p>
          <a:p>
            <a:pPr indent="-365760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  <a:p>
            <a:pPr indent="-365760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Engine</a:t>
            </a:r>
          </a:p>
          <a:p>
            <a:pPr indent="-365760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Architecture</a:t>
            </a:r>
          </a:p>
          <a:p>
            <a:pPr indent="-365760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Users and Administrators</a:t>
            </a:r>
          </a:p>
          <a:p>
            <a:pPr indent="-365760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of Database Systems</a:t>
            </a:r>
          </a:p>
        </p:txBody>
      </p:sp>
    </p:spTree>
    <p:extLst>
      <p:ext uri="{BB962C8B-B14F-4D97-AF65-F5344CB8AC3E}">
        <p14:creationId xmlns:p14="http://schemas.microsoft.com/office/powerpoint/2010/main" val="1049568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252" y="0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Systems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550816" y="1211357"/>
            <a:ext cx="11258007" cy="5646643"/>
          </a:xfrm>
        </p:spPr>
        <p:txBody>
          <a:bodyPr lIns="91440">
            <a:noAutofit/>
          </a:bodyPr>
          <a:lstStyle/>
          <a:p>
            <a:pPr indent="-365760" algn="just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DBMS contains information about a particular enterprise</a:t>
            </a:r>
          </a:p>
          <a:p>
            <a:pPr marL="0" indent="0" algn="just">
              <a:buNone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Collection of interrelated data</a:t>
            </a:r>
          </a:p>
          <a:p>
            <a:pPr marL="0" indent="0" algn="just">
              <a:buNone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Set of programs to access the data </a:t>
            </a:r>
          </a:p>
          <a:p>
            <a:pPr marL="0" indent="0" algn="just">
              <a:buNone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An environment that is both convenient and efficient to use</a:t>
            </a:r>
          </a:p>
          <a:p>
            <a:pPr indent="-365760" algn="just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systems are used to manage collections of data that are:</a:t>
            </a:r>
          </a:p>
          <a:p>
            <a:pPr marL="0" indent="0" algn="just">
              <a:buNone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Highly valuable</a:t>
            </a:r>
          </a:p>
          <a:p>
            <a:pPr marL="0" indent="0" algn="just">
              <a:buNone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Relatively large</a:t>
            </a:r>
          </a:p>
          <a:p>
            <a:pPr marL="0" indent="0" algn="just">
              <a:buNone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Accessed by multiple users and applications, often at the same time.</a:t>
            </a:r>
          </a:p>
          <a:p>
            <a:pPr indent="-365760" algn="just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modern database system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large, complex collection of data.</a:t>
            </a:r>
          </a:p>
          <a:p>
            <a:pPr indent="-365760" algn="just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 touch all aspects of our lives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Database Management Systems for Bioinformatics - Omics tutorial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077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252" y="0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Applications Examples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59344" y="1325563"/>
            <a:ext cx="11105787" cy="48601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 smtClean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Enterprise Information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Sales: customers, products, purchases</a:t>
            </a:r>
            <a:endParaRPr lang="en-US" dirty="0" smtClean="0">
              <a:latin typeface="Times New Roman" panose="02020603050405020304" pitchFamily="18" charset="0"/>
              <a:ea typeface="ＭＳ Ｐゴシック" pitchFamily="34" charset="-128"/>
              <a:cs typeface="Times New Roman" panose="02020603050405020304" pitchFamily="18" charset="0"/>
            </a:endParaRP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Accounting: payments, receipts, assets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Human Resources: Information about employees, salaries, payroll taxes.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Manufacturing: management of production, inventory, orders, supply chain.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Banking and finance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customer information, accounts, loans, and banking transactions.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Credit card transactions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Finance:  sales and purchases of financial instruments (e.g., stocks and bonds; storing real-time market data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Universities:  registration, grades</a:t>
            </a:r>
          </a:p>
          <a:p>
            <a:pPr algn="just">
              <a:buFont typeface="Arial" panose="020B0604020202020204" pitchFamily="34" charset="0"/>
              <a:buNone/>
            </a:pPr>
            <a:endParaRPr lang="en-US" sz="2400" dirty="0" smtClean="0">
              <a:latin typeface="Times New Roman" panose="02020603050405020304" pitchFamily="18" charset="0"/>
              <a:ea typeface="ＭＳ Ｐゴシック" pitchFamily="34" charset="-128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ea typeface="ＭＳ Ｐゴシック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66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252" y="0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Applications Examples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653799" y="1146042"/>
            <a:ext cx="10074506" cy="419666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Airlines: reservations, schedules</a:t>
            </a:r>
          </a:p>
          <a:p>
            <a:r>
              <a:rPr lang="en-US" sz="240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Telecommunication: records of calls, texts, and data usage, generating monthly bills, maintaining balances on prepaid calling cards</a:t>
            </a:r>
          </a:p>
          <a:p>
            <a:r>
              <a:rPr lang="en-US" sz="240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Web-based services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Online retailers: order tracking, customized recommendations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Online advertisements</a:t>
            </a:r>
          </a:p>
          <a:p>
            <a:r>
              <a:rPr lang="en-US" sz="240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Document databases</a:t>
            </a:r>
          </a:p>
          <a:p>
            <a:r>
              <a:rPr lang="en-US" sz="240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Navigation systems: For maintaining the locations of varies places of interest along with the exact routes of roads, train systems, buses, etc.</a:t>
            </a:r>
          </a:p>
          <a:p>
            <a:pPr lvl="1"/>
            <a:endParaRPr lang="en-US" dirty="0">
              <a:latin typeface="Times New Roman" panose="02020603050405020304" pitchFamily="18" charset="0"/>
              <a:ea typeface="ＭＳ Ｐゴシック" pitchFamily="34" charset="-128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ea typeface="ＭＳ Ｐゴシック" pitchFamily="34" charset="-128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ea typeface="ＭＳ Ｐゴシック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942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252" y="0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of Database Systems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33252" y="1224311"/>
            <a:ext cx="11336382" cy="34130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redundancy and inconsistency</a:t>
            </a:r>
          </a:p>
          <a:p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accessing data </a:t>
            </a:r>
          </a:p>
          <a:p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isolation </a:t>
            </a:r>
          </a:p>
          <a:p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problems</a:t>
            </a:r>
          </a:p>
          <a:p>
            <a:pPr lvl="1"/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constraints  (e.g., account balance &gt; 0) become </a:t>
            </a:r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buried</a:t>
            </a:r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program code rather than being stated explicitly</a:t>
            </a:r>
          </a:p>
          <a:p>
            <a:pPr lvl="1"/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 to add new constraints or change existing ones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07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252" y="0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of Database Systems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33252" y="1325563"/>
            <a:ext cx="11423650" cy="3151637"/>
          </a:xfrm>
        </p:spPr>
        <p:txBody>
          <a:bodyPr>
            <a:noAutofit/>
          </a:bodyPr>
          <a:lstStyle/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Atomicity of updates</a:t>
            </a:r>
          </a:p>
          <a:p>
            <a:pPr lvl="1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Failures may leave database in an inconsistent state with partial updates carried out</a:t>
            </a:r>
          </a:p>
          <a:p>
            <a:pPr algn="just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by multiple users</a:t>
            </a:r>
          </a:p>
          <a:p>
            <a:pPr lvl="1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 access needed for performance</a:t>
            </a:r>
          </a:p>
          <a:p>
            <a:pPr lvl="1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Uncontrolled concurrent accesses can lead to inconsistencies</a:t>
            </a:r>
          </a:p>
          <a:p>
            <a:pPr algn="just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</a:p>
          <a:p>
            <a:pPr lvl="1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to provide user access to some, but not all,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415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252" y="0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of Data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611595" y="1095124"/>
            <a:ext cx="11001283" cy="5462430"/>
          </a:xfrm>
        </p:spPr>
        <p:txBody>
          <a:bodyPr>
            <a:normAutofit/>
          </a:bodyPr>
          <a:lstStyle/>
          <a:p>
            <a:pPr algn="just"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database system is a collection of interrelated data and a set of programs that allow users to access and modify these data. </a:t>
            </a:r>
          </a:p>
          <a:p>
            <a:pPr algn="just"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major purpose of a database system is to provide users with an abstract view of the data.</a:t>
            </a:r>
          </a:p>
          <a:p>
            <a:pPr lvl="1" algn="just"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models</a:t>
            </a:r>
          </a:p>
          <a:p>
            <a:pPr lvl="2" algn="just"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collection of conceptual tools for describing data, data relationships, data semantics, and consistency constraints.</a:t>
            </a:r>
          </a:p>
          <a:p>
            <a:pPr lvl="1" algn="just"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abstraction</a:t>
            </a:r>
          </a:p>
          <a:p>
            <a:pPr lvl="2" algn="just"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Hide the complexity  of data structures to represent data in the database from users through several levels of data abstraction.</a:t>
            </a:r>
          </a:p>
          <a:p>
            <a:pPr lvl="1" algn="just">
              <a:tabLst>
                <a:tab pos="1365647" algn="l"/>
                <a:tab pos="2744391" algn="l"/>
                <a:tab pos="2957513" algn="l"/>
              </a:tabLs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tabLst>
                <a:tab pos="1365647" algn="l"/>
                <a:tab pos="2744391" algn="l"/>
                <a:tab pos="2957513" algn="l"/>
              </a:tabLs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469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Q Icon Questions Answers 3d Man Stock Illustrations – 17 Q Icon Questions  Answers 3d Man Stock Illustrations, Vectors &amp; Clipart - Dreamstim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87" t="6172" r="16328" b="6058"/>
          <a:stretch/>
        </p:blipFill>
        <p:spPr bwMode="auto">
          <a:xfrm>
            <a:off x="3683725" y="1216566"/>
            <a:ext cx="3408744" cy="4256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3514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252" y="0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Models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057215"/>
            <a:ext cx="9629683" cy="5448088"/>
          </a:xfrm>
        </p:spPr>
        <p:txBody>
          <a:bodyPr>
            <a:noAutofit/>
          </a:bodyPr>
          <a:lstStyle/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collection of tools for describing </a:t>
            </a:r>
          </a:p>
          <a:p>
            <a:pPr lvl="1" algn="just">
              <a:lnSpc>
                <a:spcPct val="8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</a:p>
          <a:p>
            <a:pPr lvl="1" algn="just">
              <a:lnSpc>
                <a:spcPct val="8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relationships</a:t>
            </a:r>
          </a:p>
          <a:p>
            <a:pPr lvl="1" algn="just">
              <a:lnSpc>
                <a:spcPct val="8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semantics</a:t>
            </a:r>
          </a:p>
          <a:p>
            <a:pPr lvl="1" algn="just">
              <a:lnSpc>
                <a:spcPct val="8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constraints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model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Entity-Relationship data model (mainly for database design) 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Object-based data models (Object-oriented and Object-relational)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Semi-structured data model  (XML)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older models:</a:t>
            </a:r>
          </a:p>
          <a:p>
            <a:pPr lvl="1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model </a:t>
            </a:r>
          </a:p>
          <a:p>
            <a:pPr lvl="1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model</a:t>
            </a:r>
          </a:p>
          <a:p>
            <a:pPr algn="just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439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252" y="0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057215"/>
            <a:ext cx="9629683" cy="5448088"/>
          </a:xfrm>
        </p:spPr>
        <p:txBody>
          <a:bodyPr>
            <a:noAutofit/>
          </a:bodyPr>
          <a:lstStyle/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data is stored in various tables.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tabular data in the relational model</a:t>
            </a:r>
          </a:p>
          <a:p>
            <a:pPr marL="0" indent="0" algn="just"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Line 31"/>
          <p:cNvSpPr>
            <a:spLocks noChangeShapeType="1"/>
          </p:cNvSpPr>
          <p:nvPr/>
        </p:nvSpPr>
        <p:spPr bwMode="auto">
          <a:xfrm flipH="1">
            <a:off x="4296620" y="2348699"/>
            <a:ext cx="642938" cy="4786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sp>
        <p:nvSpPr>
          <p:cNvPr id="5" name="Text Box 32"/>
          <p:cNvSpPr txBox="1">
            <a:spLocks noChangeArrowheads="1"/>
          </p:cNvSpPr>
          <p:nvPr/>
        </p:nvSpPr>
        <p:spPr bwMode="auto">
          <a:xfrm>
            <a:off x="4524696" y="2072236"/>
            <a:ext cx="99257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dirty="0"/>
              <a:t>Columns</a:t>
            </a:r>
            <a:endParaRPr lang="en-US" altLang="en-US" sz="1200" dirty="0"/>
          </a:p>
        </p:txBody>
      </p:sp>
      <p:sp>
        <p:nvSpPr>
          <p:cNvPr id="7" name="Line 33"/>
          <p:cNvSpPr>
            <a:spLocks noChangeShapeType="1"/>
          </p:cNvSpPr>
          <p:nvPr/>
        </p:nvSpPr>
        <p:spPr bwMode="auto">
          <a:xfrm flipH="1">
            <a:off x="3560290" y="2345745"/>
            <a:ext cx="1132285" cy="4679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sp>
        <p:nvSpPr>
          <p:cNvPr id="8" name="Text Box 38"/>
          <p:cNvSpPr txBox="1">
            <a:spLocks noChangeArrowheads="1"/>
          </p:cNvSpPr>
          <p:nvPr/>
        </p:nvSpPr>
        <p:spPr bwMode="auto">
          <a:xfrm>
            <a:off x="5621840" y="3163194"/>
            <a:ext cx="69602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dirty="0"/>
              <a:t>Rows</a:t>
            </a:r>
          </a:p>
        </p:txBody>
      </p:sp>
      <p:sp>
        <p:nvSpPr>
          <p:cNvPr id="9" name="Line 39"/>
          <p:cNvSpPr>
            <a:spLocks noChangeShapeType="1"/>
          </p:cNvSpPr>
          <p:nvPr/>
        </p:nvSpPr>
        <p:spPr bwMode="auto">
          <a:xfrm flipH="1">
            <a:off x="4866595" y="3327914"/>
            <a:ext cx="567785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sp>
        <p:nvSpPr>
          <p:cNvPr id="10" name="Line 40"/>
          <p:cNvSpPr>
            <a:spLocks noChangeShapeType="1"/>
          </p:cNvSpPr>
          <p:nvPr/>
        </p:nvSpPr>
        <p:spPr bwMode="auto">
          <a:xfrm flipH="1">
            <a:off x="4866594" y="3327915"/>
            <a:ext cx="567786" cy="143034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pic>
        <p:nvPicPr>
          <p:cNvPr id="11" name="Graphic 2">
            <a:extLst>
              <a:ext uri="{FF2B5EF4-FFF2-40B4-BE49-F238E27FC236}">
                <a16:creationId xmlns:a16="http://schemas.microsoft.com/office/drawing/2014/main" id="{29DA0EEC-6C2D-4DCD-BC9B-F1B582F1DE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b="43026"/>
          <a:stretch/>
        </p:blipFill>
        <p:spPr>
          <a:xfrm>
            <a:off x="1070010" y="2741510"/>
            <a:ext cx="3869548" cy="3699517"/>
          </a:xfrm>
          <a:prstGeom prst="rect">
            <a:avLst/>
          </a:prstGeom>
        </p:spPr>
      </p:pic>
      <p:pic>
        <p:nvPicPr>
          <p:cNvPr id="12" name="Picture 2" descr="Edgar F. Codd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6802" y="4421877"/>
            <a:ext cx="905257" cy="85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722825" y="5465726"/>
            <a:ext cx="1893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/>
              <a:t>Ted Codd</a:t>
            </a:r>
            <a:br>
              <a:rPr lang="en-IN" b="1"/>
            </a:br>
            <a:r>
              <a:rPr lang="en-IN"/>
              <a:t>Turing Award 1981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2948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252" y="1"/>
            <a:ext cx="10515600" cy="773596"/>
          </a:xfrm>
        </p:spPr>
        <p:txBody>
          <a:bodyPr/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Relational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Graphic 3">
            <a:extLst>
              <a:ext uri="{FF2B5EF4-FFF2-40B4-BE49-F238E27FC236}">
                <a16:creationId xmlns:a16="http://schemas.microsoft.com/office/drawing/2014/main" id="{FA83B5AE-3E57-485D-8D9A-2AFE639166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b="42295"/>
          <a:stretch/>
        </p:blipFill>
        <p:spPr>
          <a:xfrm>
            <a:off x="668386" y="1243859"/>
            <a:ext cx="5209900" cy="5044963"/>
          </a:xfrm>
          <a:prstGeom prst="rect">
            <a:avLst/>
          </a:prstGeom>
        </p:spPr>
      </p:pic>
      <p:pic>
        <p:nvPicPr>
          <p:cNvPr id="15" name="Graphic 3">
            <a:extLst>
              <a:ext uri="{FF2B5EF4-FFF2-40B4-BE49-F238E27FC236}">
                <a16:creationId xmlns:a16="http://schemas.microsoft.com/office/drawing/2014/main" id="{FA83B5AE-3E57-485D-8D9A-2AFE639166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t="57705"/>
          <a:stretch/>
        </p:blipFill>
        <p:spPr>
          <a:xfrm>
            <a:off x="5549540" y="1243859"/>
            <a:ext cx="6491037" cy="460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684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252" y="1"/>
            <a:ext cx="10515600" cy="773596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Levels of Abstraction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433252" y="1041539"/>
            <a:ext cx="11144976" cy="5502953"/>
          </a:xfrm>
        </p:spPr>
        <p:txBody>
          <a:bodyPr>
            <a:noAutofit/>
          </a:bodyPr>
          <a:lstStyle/>
          <a:p>
            <a:pPr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level</a:t>
            </a:r>
            <a:r>
              <a:rPr lang="en-US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describes how a record (e.g., instructor) is stored.</a:t>
            </a:r>
          </a:p>
          <a:p>
            <a:pPr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Logical level</a:t>
            </a:r>
            <a:r>
              <a:rPr lang="en-US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describes data stored in database, and the relationships among the data.</a:t>
            </a:r>
          </a:p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type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string; 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string;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dept_name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string;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integer;</a:t>
            </a:r>
          </a:p>
          <a:p>
            <a:pPr lvl="4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 level</a:t>
            </a:r>
            <a:r>
              <a:rPr lang="en-US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programs hide details of data types.  Views can also hide information (such as an employee</a:t>
            </a:r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salary) for security purposes.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345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252" y="1"/>
            <a:ext cx="10515600" cy="773596"/>
          </a:xfrm>
        </p:spPr>
        <p:txBody>
          <a:bodyPr/>
          <a:lstStyle/>
          <a:p>
            <a:r>
              <a:rPr lang="en-US" alt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of the Data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993" y="1799807"/>
            <a:ext cx="7571560" cy="4432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595993" y="1025092"/>
            <a:ext cx="75552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architecture for a database system </a:t>
            </a:r>
          </a:p>
        </p:txBody>
      </p:sp>
    </p:spTree>
    <p:extLst>
      <p:ext uri="{BB962C8B-B14F-4D97-AF65-F5344CB8AC3E}">
        <p14:creationId xmlns:p14="http://schemas.microsoft.com/office/powerpoint/2010/main" val="2702143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252" y="1"/>
            <a:ext cx="10515600" cy="773596"/>
          </a:xfrm>
        </p:spPr>
        <p:txBody>
          <a:bodyPr/>
          <a:lstStyle/>
          <a:p>
            <a:r>
              <a:rPr lang="en-US" alt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Instances and Schema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41812" y="1002660"/>
            <a:ext cx="11075125" cy="4539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to types and variables in programming languages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Logical Schema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the overall logical structure of the database 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consists of information about a set of customers and accounts in a bank and the relationship between them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</a:t>
            </a:r>
            <a:r>
              <a:rPr lang="en-US" alt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the overall physical  structure of the database 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Instance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the actual content of the database at a particular point in time 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Analogous to the value of a variable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053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12" y="261258"/>
            <a:ext cx="10515600" cy="773596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Data Independence 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41812" y="1287097"/>
            <a:ext cx="11075125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modify the physical schema without changing the logical 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depend on the logical schema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general, the interfaces between the various levels and components should be well defined so that changes in some parts do not seriously influence others.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078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12" y="261258"/>
            <a:ext cx="10515600" cy="773596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Definition Language (DDL)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41812" y="1209197"/>
            <a:ext cx="11850188" cy="590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 notation for defining the database 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</a:p>
          <a:p>
            <a:pPr lvl="4" algn="just"/>
            <a:r>
              <a:rPr lang="en-US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</a:t>
            </a:r>
            <a:r>
              <a:rPr lang="en-US" alt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instructor (</a:t>
            </a:r>
          </a:p>
          <a:p>
            <a:pPr lvl="6" algn="just"/>
            <a:r>
              <a:rPr lang="en-US" alt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char(5),</a:t>
            </a:r>
          </a:p>
          <a:p>
            <a:pPr lvl="6" algn="just"/>
            <a:r>
              <a:rPr lang="en-US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 varchar(20),</a:t>
            </a:r>
          </a:p>
          <a:p>
            <a:pPr lvl="6" algn="just"/>
            <a:r>
              <a:rPr lang="en-US" altLang="en-US" sz="28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8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ept_name</a:t>
            </a:r>
            <a:r>
              <a:rPr lang="en-US" alt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varchar(20),</a:t>
            </a:r>
          </a:p>
          <a:p>
            <a:pPr lvl="6" algn="just"/>
            <a:r>
              <a:rPr lang="en-US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alary numeric(8,2)</a:t>
            </a:r>
          </a:p>
          <a:p>
            <a:pPr lvl="6" algn="just"/>
            <a:r>
              <a:rPr lang="en-US" alt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DDL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 generates a set of table templates stored in a data dictionary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dictionary contains metadata (i.e., data about data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 algn="just"/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 </a:t>
            </a:r>
          </a:p>
          <a:p>
            <a:pPr lvl="2"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constraints: Primary key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</a:t>
            </a:r>
          </a:p>
          <a:p>
            <a:pPr lvl="1" algn="just"/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0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12" y="261258"/>
            <a:ext cx="10515600" cy="773596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Manipulation Language (DML)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41812" y="1001672"/>
            <a:ext cx="11850188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for accessing and updating the data organized by the appropriate data model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DML also known as query language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basically two types of data-manipulation language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Procedural: 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 a user to specify what data are needed and how to get those data.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Declarative: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 a user to specify what data are needed without specifying how to get those data.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Declarative DMLs are usually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to learn and use than are procedural DMLs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Declarative DMLs are also referred to as non-procedural DMLs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portion of a DML that involves information retrieval is called a </a:t>
            </a:r>
            <a:r>
              <a:rPr lang="en-US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language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59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12" y="261258"/>
            <a:ext cx="10515600" cy="773596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Query Language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41812" y="887920"/>
            <a:ext cx="11850188" cy="581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 query language is nonprocedural.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to find all instructors in Comp. Sci.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 algn="just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alt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4" algn="just"/>
            <a:r>
              <a:rPr lang="en-US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</a:t>
            </a:r>
            <a:r>
              <a:rPr lang="en-US" alt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instructor </a:t>
            </a:r>
          </a:p>
          <a:p>
            <a:pPr lvl="4" algn="just"/>
            <a:r>
              <a:rPr lang="en-US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where</a:t>
            </a:r>
            <a:r>
              <a:rPr lang="en-US" alt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dept_name</a:t>
            </a:r>
            <a:r>
              <a:rPr lang="en-US" alt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“</a:t>
            </a:r>
            <a:r>
              <a:rPr lang="en-US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Comp. </a:t>
            </a:r>
            <a:r>
              <a:rPr lang="en-US" altLang="en-US" sz="28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</a:t>
            </a:r>
            <a:r>
              <a:rPr lang="en-US" alt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Turing machine equivalent language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 complex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SQL is usually embedded in some higher-level language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programs generally access databases through one of</a:t>
            </a:r>
          </a:p>
          <a:p>
            <a:pPr marL="108585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extensions to allow embedded SQL</a:t>
            </a:r>
          </a:p>
          <a:p>
            <a:pPr marL="108585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program interface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SQL queries to be sent to a database</a:t>
            </a:r>
          </a:p>
          <a:p>
            <a:pPr algn="just">
              <a:lnSpc>
                <a:spcPct val="15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428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Q Icon Questions Answers 3d Man Stock Illustrations – 17 Q Icon Questions  Answers 3d Man Stock Illustrations, Vectors &amp; Clipart - Dreamstim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87" t="6172" r="16328" b="6058"/>
          <a:stretch/>
        </p:blipFill>
        <p:spPr bwMode="auto">
          <a:xfrm>
            <a:off x="3683725" y="1216566"/>
            <a:ext cx="3408744" cy="4256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0384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796</TotalTime>
  <Words>820</Words>
  <Application>Microsoft Office PowerPoint</Application>
  <PresentationFormat>Widescreen</PresentationFormat>
  <Paragraphs>140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MS PGothic</vt:lpstr>
      <vt:lpstr>MS PGothic</vt:lpstr>
      <vt:lpstr>游ゴシック</vt:lpstr>
      <vt:lpstr>Arial</vt:lpstr>
      <vt:lpstr>Calibri</vt:lpstr>
      <vt:lpstr>Calibri Light</vt:lpstr>
      <vt:lpstr>Helvetica</vt:lpstr>
      <vt:lpstr>Times New Roman</vt:lpstr>
      <vt:lpstr>Office Theme</vt:lpstr>
      <vt:lpstr>Database Systems Concepts and Design</vt:lpstr>
      <vt:lpstr>Chapter 1: Introduction</vt:lpstr>
      <vt:lpstr>Outline</vt:lpstr>
      <vt:lpstr>Database Systems</vt:lpstr>
      <vt:lpstr>Database Applications Examples</vt:lpstr>
      <vt:lpstr>Database Applications Examples</vt:lpstr>
      <vt:lpstr>Purpose of Database Systems</vt:lpstr>
      <vt:lpstr>Purpose of Database Systems</vt:lpstr>
      <vt:lpstr>View of Data</vt:lpstr>
      <vt:lpstr>PowerPoint Presentation</vt:lpstr>
      <vt:lpstr>Data Models</vt:lpstr>
      <vt:lpstr>Relational Models</vt:lpstr>
      <vt:lpstr>Sample Relational Models</vt:lpstr>
      <vt:lpstr>Levels of Abstraction</vt:lpstr>
      <vt:lpstr>View of the Data</vt:lpstr>
      <vt:lpstr>Instances and Schema</vt:lpstr>
      <vt:lpstr>Physical Data Independence </vt:lpstr>
      <vt:lpstr>Data Definition Language (DDL)</vt:lpstr>
      <vt:lpstr>Data Manipulation Language (DML)</vt:lpstr>
      <vt:lpstr>SQL Query Language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 Concepts and Design</dc:title>
  <dc:creator>admin</dc:creator>
  <cp:lastModifiedBy>admin</cp:lastModifiedBy>
  <cp:revision>13</cp:revision>
  <dcterms:created xsi:type="dcterms:W3CDTF">2024-12-31T01:15:31Z</dcterms:created>
  <dcterms:modified xsi:type="dcterms:W3CDTF">2024-12-31T17:02:27Z</dcterms:modified>
</cp:coreProperties>
</file>